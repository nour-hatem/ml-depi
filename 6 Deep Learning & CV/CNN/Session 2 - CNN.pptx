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332" r:id="rId19"/>
    <p:sldId id="329" r:id="rId20"/>
    <p:sldId id="330" r:id="rId21"/>
    <p:sldId id="331" r:id="rId22"/>
    <p:sldId id="327" r:id="rId23"/>
    <p:sldId id="32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754" y="-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471D87-879E-4F60-88E8-13EE5F196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ED8D7F6-353C-43CB-8020-2D67B534B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5DF02FA-64C9-422E-AAA3-17D2675A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4E9ECDA-B16E-4D82-8227-B1492A36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17EFE3B-F969-4F03-A85B-D8330220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4D7F39-8B4F-43DF-B588-456CD5FB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B205570-E45A-4980-86E6-0007C2CCA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F1F746E-6FE1-499A-A47D-741A00D4D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014801-7544-4418-914E-B83779496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60BA8E-B161-4CBD-BADA-7A7D28CD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A5CD05-4E63-4A07-BE46-6C59B0026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A929DFC-7853-40F1-9684-8B88FB739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2141839-FA7C-44FD-AF18-E7AC2E8A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FC6AB31-A730-4566-9A9F-639E832A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BC7BC01-0DFB-4667-AC24-97DECC5A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7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D0CE8A-7149-4C5A-A14E-48CB485C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009E3AA-46E1-4DF0-AC76-8F7859875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064703B-837B-475F-B50A-5E3590FC1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934F3CB-3AD6-4173-BABA-99B29FDF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31D60E6-FD92-411C-899A-867D9259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4537A08-9D21-4665-B6AB-2CB72C3A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D90A1A-1D14-4F9D-A9FE-A1770FEA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38206C2-2408-49E9-8C3D-05ABC0F42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F76F91E-AD26-428A-AF1B-04EDB7829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0456C34-06C8-4589-BF61-E0A37F40C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5DBB935-578E-4367-802F-BB2DC43F9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2FE7944-24AC-44F5-8BCE-F8352452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4144843-5F29-4D52-8319-E4CB71B6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18C23FD-59D9-497F-BDC1-F5D5CADD3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2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B9FE6F-497B-4B6B-A805-B21A8BE16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403DDE3-FA3D-4743-9C11-6DB66A42F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456E7C8-80F0-4AB8-B309-B2A2041A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6ACD483-C8ED-417A-90E8-5442D0C9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8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62AC786-0CAE-4AE3-A7EB-723E1583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F609AD4-4E73-490D-A786-659ED65D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629C76-A288-4E13-878C-6962986C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8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F0A672-9F48-4FCA-8F61-AE670F83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EEDD45-7772-4E23-9A2F-ADB783225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AB528B5-16EF-4185-9BFD-D6E7ADCDB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E3778D2-CA4E-40A1-9CB4-9512D4D0E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5F1D8ED-C54B-485D-B393-E61338C5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53DEEB1-224F-4AFA-9FD1-D5406836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9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8C295C-4B35-469F-B5E8-814BA7EFD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893B3A0-93AE-4D95-ABD2-C96B33AF9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0ACF7B9-157A-4BEF-B891-1D07B8CA2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5046FFC-B207-4775-B68A-DEAB6F12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23020EA-9770-4838-8EC4-59E4328BB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592A784-315B-49C9-B4E3-0ECBB63D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71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AB6C7F-4E97-465F-9F0A-0C559AE3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BE6B1E8-D8A3-42B4-A720-82A8130A4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90C3355-D9B9-4D66-B406-FEC1A024C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03D7157-D1DD-40E7-9C7F-66809A86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8FB65C-C783-4877-9491-F25B34D4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4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655F4D8-CE70-49DB-867D-2E1DFF87B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1B95239-6B1C-40D0-8D4D-5A8B721A7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C48FB70-8062-4024-8F79-D33B8EF8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041C454-3A2A-4D38-86B7-E128DF58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E36756-1EC7-4004-BDF5-7E314BDA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539E6F2-8447-44A3-A35D-D51E386CD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88454B6-F1AC-4005-96A2-3C74751FD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36E5712-E247-4642-98AA-D472DF615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27488-DCAA-483F-8F7A-D16A4B35D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F387FFC-34EE-497D-95C6-46FF698C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BD644A8-C97E-4C18-8C17-0E186A04C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CEED-9C44-4A75-87D9-7633E583A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2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943CAA20-3569-4189-9E48-239A229A86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FF72DF-272A-4E85-AE66-2BC2D263F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/>
              <a:t>Computer Vision with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7D64A3C-9C53-481E-AEB3-EFD104634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Session 2</a:t>
            </a:r>
          </a:p>
          <a:p>
            <a:pPr algn="l"/>
            <a:r>
              <a:rPr lang="en-US" dirty="0"/>
              <a:t>Convolutional Neural Networks (CNNs)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="" xmlns:a16="http://schemas.microsoft.com/office/drawing/2014/main" id="{DA542B6D-E775-4832-91DC-2D20F85781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5">
            <a:extLst>
              <a:ext uri="{FF2B5EF4-FFF2-40B4-BE49-F238E27FC236}">
                <a16:creationId xmlns="" xmlns:a16="http://schemas.microsoft.com/office/drawing/2014/main" id="{5D083EFB-F251-4502-A0BC-42D6D7724927}"/>
              </a:ext>
            </a:extLst>
          </p:cNvPr>
          <p:cNvSpPr/>
          <p:nvPr/>
        </p:nvSpPr>
        <p:spPr>
          <a:xfrm>
            <a:off x="1082516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30212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65A14F-1D89-4EB3-869A-62493FFED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Agenda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BCC915-0F5C-46C0-AAE5-85616A001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r>
              <a:rPr lang="en-US" sz="3200" dirty="0"/>
              <a:t>Introduction to CNNs</a:t>
            </a:r>
          </a:p>
          <a:p>
            <a:r>
              <a:rPr lang="en-US" sz="3200" dirty="0"/>
              <a:t>The Structure of a CNN</a:t>
            </a:r>
          </a:p>
          <a:p>
            <a:pPr lvl="1"/>
            <a:r>
              <a:rPr lang="en-US" sz="3200" dirty="0"/>
              <a:t>Convolution Layer</a:t>
            </a:r>
          </a:p>
          <a:p>
            <a:pPr lvl="1"/>
            <a:r>
              <a:rPr lang="en-US" sz="3200" dirty="0"/>
              <a:t>Pooling Layer</a:t>
            </a:r>
          </a:p>
          <a:p>
            <a:pPr lvl="1"/>
            <a:r>
              <a:rPr lang="en-US" sz="3200" dirty="0"/>
              <a:t>Flatten Layer</a:t>
            </a:r>
          </a:p>
          <a:p>
            <a:pPr lvl="1"/>
            <a:r>
              <a:rPr lang="en-US" sz="3200" dirty="0"/>
              <a:t>Fully Connected Layer</a:t>
            </a:r>
          </a:p>
          <a:p>
            <a:r>
              <a:rPr lang="en-US" sz="3200" dirty="0"/>
              <a:t>CNN Architectures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C54589C0-9C3A-49FE-854A-8E5683F18795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5043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Introduction to CNNs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Definition of CNNs</a:t>
            </a:r>
          </a:p>
          <a:p>
            <a:pPr lvl="1"/>
            <a:r>
              <a:rPr lang="en-US" sz="2800" dirty="0"/>
              <a:t>CNNs - Convolutional Neural Network - are a class of deep learning models primarily used for </a:t>
            </a:r>
            <a:r>
              <a:rPr lang="en-US" sz="2800" b="1" dirty="0"/>
              <a:t>image processing</a:t>
            </a:r>
            <a:r>
              <a:rPr lang="en-US" sz="2800" dirty="0"/>
              <a:t> and </a:t>
            </a:r>
            <a:r>
              <a:rPr lang="en-US" sz="2800" b="1" dirty="0"/>
              <a:t>computer vision</a:t>
            </a:r>
            <a:r>
              <a:rPr lang="en-US" sz="2800" dirty="0"/>
              <a:t> tasks.</a:t>
            </a:r>
          </a:p>
          <a:p>
            <a:pPr lvl="1"/>
            <a:r>
              <a:rPr lang="en-US" sz="2800" dirty="0"/>
              <a:t>They are designed to mimic the human visual system, learning patterns directly from images.</a:t>
            </a:r>
            <a:endParaRPr lang="en-US" sz="1800" dirty="0"/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D2F98ABE-95AA-47AD-9BF2-696D27B4027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1468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Introduction to CNNs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Why Are CNNs Important?</a:t>
            </a:r>
          </a:p>
          <a:p>
            <a:pPr lvl="1"/>
            <a:r>
              <a:rPr lang="en-US" sz="2800" dirty="0"/>
              <a:t>Unlike traditional machine learning models, CNNs automatically extract features (edges, textures, objects) instead of requiring manual feature engineering.</a:t>
            </a:r>
          </a:p>
          <a:p>
            <a:pPr lvl="1"/>
            <a:r>
              <a:rPr lang="en-US" sz="2800" dirty="0"/>
              <a:t>They have revolutionized fields such as medical imaging, self-driving cars, and facial recognition.</a:t>
            </a:r>
            <a:endParaRPr lang="en-US" sz="1800" dirty="0"/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FA016B35-34B0-46AF-9A9E-1C7DA5A09859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1893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Introduction to CNNs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Applications of CNNs</a:t>
            </a:r>
          </a:p>
          <a:p>
            <a:pPr lvl="1"/>
            <a:r>
              <a:rPr lang="en-US" sz="2800" dirty="0"/>
              <a:t>Image Classification (e.g., identifying cats vs. dogs)</a:t>
            </a:r>
          </a:p>
          <a:p>
            <a:pPr lvl="1"/>
            <a:r>
              <a:rPr lang="en-US" sz="2800" dirty="0"/>
              <a:t>Object Detection (e.g., self-driving cars identifying pedestrians)</a:t>
            </a:r>
          </a:p>
          <a:p>
            <a:pPr lvl="1"/>
            <a:r>
              <a:rPr lang="en-US" sz="2800" dirty="0"/>
              <a:t>Medical Imaging (e.g., detecting tumors from MRI scans)</a:t>
            </a:r>
          </a:p>
          <a:p>
            <a:pPr lvl="1"/>
            <a:r>
              <a:rPr lang="en-US" sz="2800" dirty="0"/>
              <a:t>Facial Recognition (e.g., unlocking phones using Face ID)</a:t>
            </a:r>
          </a:p>
          <a:p>
            <a:pPr lvl="1"/>
            <a:r>
              <a:rPr lang="en-US" sz="2800" dirty="0"/>
              <a:t>Autonomous Systems (e.g., robotics, security surveillance)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154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Convolutional Neural Network</a:t>
            </a:r>
          </a:p>
          <a:p>
            <a:pPr lvl="1"/>
            <a:r>
              <a:rPr lang="en-US" sz="2800" dirty="0"/>
              <a:t>A Convolutional Neural Network (CNN) consists of multiple layers that work together to process and learn patterns from images.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 descr="A diagram of a diagram of a process&#10;&#10;AI-generated content may be incorrect.">
            <a:extLst>
              <a:ext uri="{FF2B5EF4-FFF2-40B4-BE49-F238E27FC236}">
                <a16:creationId xmlns="" xmlns:a16="http://schemas.microsoft.com/office/drawing/2014/main" id="{863E6D07-B90F-41B8-9078-FF338FAAA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956" y="3604237"/>
            <a:ext cx="5901978" cy="29154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6042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Convolutional Layer</a:t>
            </a:r>
          </a:p>
          <a:p>
            <a:pPr lvl="1"/>
            <a:r>
              <a:rPr lang="en-US" sz="2800" dirty="0"/>
              <a:t>The core building block of CNNs.</a:t>
            </a:r>
          </a:p>
          <a:p>
            <a:pPr lvl="1"/>
            <a:r>
              <a:rPr lang="en-US" sz="2800" dirty="0"/>
              <a:t>Applies filters (kernels) to extract features such as edges, textures, and patterns.</a:t>
            </a:r>
          </a:p>
          <a:p>
            <a:pPr lvl="1"/>
            <a:r>
              <a:rPr lang="en-US" sz="2800" dirty="0"/>
              <a:t>Produces a feature map that highlights important features in the image.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3220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Convolutional Layer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F49303B-1E02-4464-876F-B7B95C405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728" y="2596945"/>
            <a:ext cx="8361265" cy="418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4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Activation Function (ReLU)</a:t>
            </a:r>
          </a:p>
          <a:p>
            <a:pPr lvl="1"/>
            <a:r>
              <a:rPr lang="en-US" sz="2800" dirty="0"/>
              <a:t>ReLU (Rectified Linear Unit) is the most commonly used activation function.</a:t>
            </a:r>
          </a:p>
          <a:p>
            <a:pPr lvl="1"/>
            <a:r>
              <a:rPr lang="en-US" sz="2800" dirty="0"/>
              <a:t>Converts negative pixel values to zero, introducing non-linearity into the model.</a:t>
            </a:r>
          </a:p>
          <a:p>
            <a:pPr lvl="1"/>
            <a:r>
              <a:rPr lang="en-US" sz="2800" dirty="0"/>
              <a:t>Helps CNNs learn complex patterns instead of just linear relationships.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2967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1036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Activation Function (ReLU)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="" xmlns:a16="http://schemas.microsoft.com/office/drawing/2014/main" id="{3FF7D17F-28EB-47B4-91E6-50346CCDD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793" y="2646232"/>
            <a:ext cx="6789470" cy="387442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6591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Pooling Layer</a:t>
            </a:r>
          </a:p>
          <a:p>
            <a:pPr lvl="1"/>
            <a:r>
              <a:rPr lang="en-US" sz="2800" dirty="0"/>
              <a:t>Reduces the dimensions of feature maps while retaining essential information.</a:t>
            </a:r>
          </a:p>
          <a:p>
            <a:pPr lvl="1"/>
            <a:r>
              <a:rPr lang="en-US" sz="2800" dirty="0"/>
              <a:t>Types of pooling:</a:t>
            </a:r>
          </a:p>
          <a:p>
            <a:pPr lvl="2"/>
            <a:r>
              <a:rPr lang="en-US" sz="2400" dirty="0"/>
              <a:t>Max Pooling: Keeps the highest value from a region.</a:t>
            </a:r>
          </a:p>
          <a:p>
            <a:pPr lvl="2"/>
            <a:r>
              <a:rPr lang="en-US" sz="2400" dirty="0"/>
              <a:t>Average Pooling: Takes the average value from a region.</a:t>
            </a:r>
          </a:p>
          <a:p>
            <a:pPr lvl="1"/>
            <a:r>
              <a:rPr lang="en-US" sz="2800" dirty="0"/>
              <a:t>Prevents overfitting and improves computational efficiency.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9791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Pooling Layer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 descr="A black arrow pointing to a number&#10;&#10;AI-generated content may be incorrect.">
            <a:extLst>
              <a:ext uri="{FF2B5EF4-FFF2-40B4-BE49-F238E27FC236}">
                <a16:creationId xmlns="" xmlns:a16="http://schemas.microsoft.com/office/drawing/2014/main" id="{7BCCC10B-1E77-48EB-AFF0-2ED779DB0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3095244"/>
            <a:ext cx="6934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4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Flatten Layer</a:t>
            </a:r>
          </a:p>
          <a:p>
            <a:pPr lvl="1"/>
            <a:r>
              <a:rPr lang="en-US" sz="2800" dirty="0"/>
              <a:t>Convert A multi-dimensional tensor (e.g., output of a Conv or Pooling layer) into a 1D vector that can be fed into a fully connected (dense) layer.</a:t>
            </a:r>
          </a:p>
          <a:p>
            <a:pPr lvl="1"/>
            <a:r>
              <a:rPr lang="en-US" sz="2800" dirty="0"/>
              <a:t>The layer simply reshapes the data and does not perform any learning.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4182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1055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Flatten Layer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 descr="A screen shot of a map&#10;&#10;AI-generated content may be incorrect.">
            <a:extLst>
              <a:ext uri="{FF2B5EF4-FFF2-40B4-BE49-F238E27FC236}">
                <a16:creationId xmlns="" xmlns:a16="http://schemas.microsoft.com/office/drawing/2014/main" id="{3932CFAD-FB80-4514-ADDC-9E94993D1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73" y="2452731"/>
            <a:ext cx="8213857" cy="392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2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Fully Connected (Dense) Layer</a:t>
            </a:r>
          </a:p>
          <a:p>
            <a:pPr lvl="1"/>
            <a:r>
              <a:rPr lang="en-US" sz="2800" dirty="0"/>
              <a:t>A dense layer where each neuron is connected to every neuron in the previous layer.</a:t>
            </a:r>
          </a:p>
          <a:p>
            <a:pPr lvl="1"/>
            <a:r>
              <a:rPr lang="en-US" sz="2800" dirty="0"/>
              <a:t>Used to combine extracted features from convolutional layers and make predictions.</a:t>
            </a:r>
          </a:p>
          <a:p>
            <a:pPr lvl="1"/>
            <a:r>
              <a:rPr lang="en-US" sz="2800" dirty="0"/>
              <a:t>Performs a weighted sum of inputs followed by an activation function (e.g., ReLU, Softmax).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0508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84047-F773-4402-8869-404DA69E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Fully Connected (Dense) Layer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 descr="A diagram of a machine learning&#10;&#10;AI-generated content may be incorrect.">
            <a:extLst>
              <a:ext uri="{FF2B5EF4-FFF2-40B4-BE49-F238E27FC236}">
                <a16:creationId xmlns="" xmlns:a16="http://schemas.microsoft.com/office/drawing/2014/main" id="{F3DFE6FF-0919-4927-845F-6B76F6649B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369" y="2438677"/>
            <a:ext cx="6040079" cy="422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3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314AF-17B5-429A-9F0C-45DA2958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The Structure of a CNN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87007217-F15F-4D56-A7BE-24420BF660BA}"/>
              </a:ext>
            </a:extLst>
          </p:cNvPr>
          <p:cNvSpPr/>
          <p:nvPr/>
        </p:nvSpPr>
        <p:spPr>
          <a:xfrm>
            <a:off x="10839548" y="6477772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 descr="A diagram of a structure&#10;&#10;AI-generated content may be incorrect.">
            <a:extLst>
              <a:ext uri="{FF2B5EF4-FFF2-40B4-BE49-F238E27FC236}">
                <a16:creationId xmlns="" xmlns:a16="http://schemas.microsoft.com/office/drawing/2014/main" id="{1E7413B9-C766-4101-9279-A64879F73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6" y="2055813"/>
            <a:ext cx="10477500" cy="4162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507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12" y="347240"/>
            <a:ext cx="11354765" cy="6027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5840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Number </a:t>
            </a:r>
            <a:r>
              <a:rPr lang="en-US" b="1" dirty="0"/>
              <a:t>of Parameter in </a:t>
            </a:r>
            <a:r>
              <a:rPr lang="en-US" b="1" dirty="0" smtClean="0"/>
              <a:t>CNN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1" y="1284818"/>
            <a:ext cx="8525932" cy="546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14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image size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225" y="1885421"/>
            <a:ext cx="7573963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526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171" y="836083"/>
            <a:ext cx="6258829" cy="57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205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FFD48BC7-DC40-47DE-87EE-9F4B6ECB9A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="" xmlns:a16="http://schemas.microsoft.com/office/drawing/2014/main" id="{E502BBC7-2C76-46F3-BC24-5985BC13DB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="" xmlns:a16="http://schemas.microsoft.com/office/drawing/2014/main" id="{C7F28D52-2A5F-4D23-81AE-7CB8B591C7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FCEAAC-B588-4738-9CD4-D6294FAC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/>
              <a:t>Hands-on Lab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629484E-3792-4B3D-89AD-7C8A1ED0E0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="" xmlns:a16="http://schemas.microsoft.com/office/drawing/2014/main" id="{4B538036-5DCA-4DC6-848D-8302E8C20DAE}"/>
              </a:ext>
            </a:extLst>
          </p:cNvPr>
          <p:cNvSpPr/>
          <p:nvPr/>
        </p:nvSpPr>
        <p:spPr>
          <a:xfrm>
            <a:off x="10839548" y="6517101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97115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FFD48BC7-DC40-47DE-87EE-9F4B6ECB9A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="" xmlns:a16="http://schemas.microsoft.com/office/drawing/2014/main" id="{E502BBC7-2C76-46F3-BC24-5985BC13DB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="" xmlns:a16="http://schemas.microsoft.com/office/drawing/2014/main" id="{C7F28D52-2A5F-4D23-81AE-7CB8B591C7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FCEAAC-B588-4738-9CD4-D6294FAC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Thank You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629484E-3792-4B3D-89AD-7C8A1ED0E0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="" xmlns:a16="http://schemas.microsoft.com/office/drawing/2014/main" id="{4B538036-5DCA-4DC6-848D-8302E8C20DAE}"/>
              </a:ext>
            </a:extLst>
          </p:cNvPr>
          <p:cNvSpPr/>
          <p:nvPr/>
        </p:nvSpPr>
        <p:spPr>
          <a:xfrm>
            <a:off x="10839548" y="6517101"/>
            <a:ext cx="1366832" cy="380228"/>
          </a:xfrm>
          <a:custGeom>
            <a:avLst/>
            <a:gdLst/>
            <a:ahLst/>
            <a:cxnLst/>
            <a:rect l="l" t="t" r="r" b="b"/>
            <a:pathLst>
              <a:path w="2050248" h="570342">
                <a:moveTo>
                  <a:pt x="0" y="0"/>
                </a:moveTo>
                <a:lnTo>
                  <a:pt x="2050248" y="0"/>
                </a:lnTo>
                <a:lnTo>
                  <a:pt x="2050248" y="570342"/>
                </a:lnTo>
                <a:lnTo>
                  <a:pt x="0" y="57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5710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526</Words>
  <Application>Microsoft Office PowerPoint</Application>
  <PresentationFormat>Custom</PresentationFormat>
  <Paragraphs>71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Computer Vision with Deep Learning</vt:lpstr>
      <vt:lpstr>Agenda</vt:lpstr>
      <vt:lpstr>Introduction to CNNs</vt:lpstr>
      <vt:lpstr>Introduction to CNNs</vt:lpstr>
      <vt:lpstr>Introduction to CNNs</vt:lpstr>
      <vt:lpstr>The Structure of a CNN</vt:lpstr>
      <vt:lpstr>The Structure of a CNN</vt:lpstr>
      <vt:lpstr>The Structure of a CNN</vt:lpstr>
      <vt:lpstr>The Structure of a CNN</vt:lpstr>
      <vt:lpstr>The Structure of a CNN</vt:lpstr>
      <vt:lpstr>The Structure of a CNN</vt:lpstr>
      <vt:lpstr>The Structure of a CNN</vt:lpstr>
      <vt:lpstr>The Structure of a CNN</vt:lpstr>
      <vt:lpstr>The Structure of a CNN</vt:lpstr>
      <vt:lpstr>The Structure of a CNN</vt:lpstr>
      <vt:lpstr>The Structure of a CNN</vt:lpstr>
      <vt:lpstr>The Structure of a CNN</vt:lpstr>
      <vt:lpstr>PowerPoint Presentation</vt:lpstr>
      <vt:lpstr>Number of Parameter in CNN</vt:lpstr>
      <vt:lpstr>Output image size</vt:lpstr>
      <vt:lpstr>Example</vt:lpstr>
      <vt:lpstr>Hands-on Lab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with Keras and TensorFlow</dc:title>
  <dc:creator>20912019100973</dc:creator>
  <cp:lastModifiedBy>Yahya Ashraf</cp:lastModifiedBy>
  <cp:revision>118</cp:revision>
  <dcterms:created xsi:type="dcterms:W3CDTF">2025-02-15T17:40:25Z</dcterms:created>
  <dcterms:modified xsi:type="dcterms:W3CDTF">2026-04-01T18:08:44Z</dcterms:modified>
</cp:coreProperties>
</file>